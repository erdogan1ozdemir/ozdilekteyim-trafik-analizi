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Oturum</c:v>
                </c:pt>
              </c:strCache>
            </c:strRef>
          </c:tx>
          <c:spPr>
            <a:solidFill>
              <a:srgbClr val="FF7B52"/>
            </a:solidFill>
            <a:ln w="38100" cap="flat">
              <a:solidFill>
                <a:srgbClr val="FF7B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7B52"/>
              </a:solidFill>
              <a:ln w="9525" cap="flat">
                <a:solidFill>
                  <a:srgbClr val="FF7B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Kas 25</c:v>
                  </c:pt>
                  <c:pt idx="1">
                    <c:v>Ara 25</c:v>
                  </c:pt>
                  <c:pt idx="2">
                    <c:v>Oca 26</c:v>
                  </c:pt>
                  <c:pt idx="3">
                    <c:v>Şub 26</c:v>
                  </c:pt>
                  <c:pt idx="4">
                    <c:v>Mar 26</c:v>
                  </c:pt>
                  <c:pt idx="5">
                    <c:v>Nis 26</c:v>
                  </c:pt>
                  <c:pt idx="6">
                    <c:v>May 26</c:v>
                  </c:pt>
                  <c:pt idx="7">
                    <c:v>Haz 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5264</c:v>
                </c:pt>
                <c:pt idx="1">
                  <c:v>4000</c:v>
                </c:pt>
                <c:pt idx="2">
                  <c:v>4703</c:v>
                </c:pt>
                <c:pt idx="3">
                  <c:v>3578</c:v>
                </c:pt>
                <c:pt idx="4">
                  <c:v>4762</c:v>
                </c:pt>
                <c:pt idx="5">
                  <c:v>4988</c:v>
                </c:pt>
                <c:pt idx="6">
                  <c:v>7575</c:v>
                </c:pt>
                <c:pt idx="7">
                  <c:v>3367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Ciro (₺)</c:v>
                </c:pt>
              </c:strCache>
            </c:strRef>
          </c:tx>
          <c:spPr>
            <a:solidFill>
              <a:srgbClr val="2E7D32"/>
            </a:solidFill>
            <a:ln w="3810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Kas 25</c:v>
                  </c:pt>
                  <c:pt idx="1">
                    <c:v>Ara 25</c:v>
                  </c:pt>
                  <c:pt idx="2">
                    <c:v>Oca 26</c:v>
                  </c:pt>
                  <c:pt idx="3">
                    <c:v>Şub 26</c:v>
                  </c:pt>
                  <c:pt idx="4">
                    <c:v>Mar 26</c:v>
                  </c:pt>
                  <c:pt idx="5">
                    <c:v>Nis 26</c:v>
                  </c:pt>
                  <c:pt idx="6">
                    <c:v>May 26</c:v>
                  </c:pt>
                  <c:pt idx="7">
                    <c:v>Haz 26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138985</c:v>
                </c:pt>
                <c:pt idx="1">
                  <c:v>47020</c:v>
                </c:pt>
                <c:pt idx="2">
                  <c:v>37897</c:v>
                </c:pt>
                <c:pt idx="3">
                  <c:v>56242</c:v>
                </c:pt>
                <c:pt idx="4">
                  <c:v>65071</c:v>
                </c:pt>
                <c:pt idx="5">
                  <c:v>89865</c:v>
                </c:pt>
                <c:pt idx="6">
                  <c:v>121636</c:v>
                </c:pt>
                <c:pt idx="7">
                  <c:v>81874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7B5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7D32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Oturum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7B52"/>
              </a:solidFill>
              <a:effectLst/>
            </c:spPr>
          </c:dPt>
          <c:dPt>
            <c:idx val="1"/>
            <c:bubble3D val="0"/>
            <c:spPr>
              <a:solidFill>
                <a:srgbClr val="2E7D32"/>
              </a:solidFill>
              <a:effectLst/>
            </c:spPr>
          </c:dPt>
          <c:dPt>
            <c:idx val="2"/>
            <c:bubble3D val="0"/>
            <c:spPr>
              <a:solidFill>
                <a:srgbClr val="1565C0"/>
              </a:solidFill>
              <a:effectLst/>
            </c:spPr>
          </c:dPt>
          <c:dPt>
            <c:idx val="3"/>
            <c:bubble3D val="0"/>
            <c:spPr>
              <a:solidFill>
                <a:srgbClr val="8E24AA"/>
              </a:solidFill>
              <a:effectLst/>
            </c:spPr>
          </c:dPt>
          <c:dPt>
            <c:idx val="4"/>
            <c:bubble3D val="0"/>
            <c:spPr>
              <a:solidFill>
                <a:srgbClr val="F5A623"/>
              </a:solidFill>
              <a:effectLst/>
            </c:spPr>
          </c:dPt>
          <c:dPt>
            <c:idx val="5"/>
            <c:bubble3D val="0"/>
            <c:spPr>
              <a:solidFill>
                <a:srgbClr val="00838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Ürün</c:v>
                </c:pt>
                <c:pt idx="1">
                  <c:v>Market</c:v>
                </c:pt>
                <c:pt idx="2">
                  <c:v>Kategori</c:v>
                </c:pt>
                <c:pt idx="3">
                  <c:v>Sepet/Checkout</c:v>
                </c:pt>
                <c:pt idx="4">
                  <c:v>Anasayfa</c:v>
                </c:pt>
                <c:pt idx="5">
                  <c:v>Marka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29328</c:v>
                </c:pt>
                <c:pt idx="1">
                  <c:v>7193</c:v>
                </c:pt>
                <c:pt idx="2">
                  <c:v>952</c:v>
                </c:pt>
                <c:pt idx="3">
                  <c:v>235</c:v>
                </c:pt>
                <c:pt idx="4">
                  <c:v>173</c:v>
                </c:pt>
                <c:pt idx="5">
                  <c:v>162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Oturum</c:v>
                </c:pt>
              </c:strCache>
            </c:strRef>
          </c:tx>
          <c:spPr>
            <a:solidFill>
              <a:srgbClr val="FF7B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33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Özdilek</c:v>
                  </c:pt>
                  <c:pt idx="1">
                    <c:v>Mavi</c:v>
                  </c:pt>
                  <c:pt idx="2">
                    <c:v>Adidas</c:v>
                  </c:pt>
                  <c:pt idx="3">
                    <c:v>Skechers</c:v>
                  </c:pt>
                  <c:pt idx="4">
                    <c:v>Philips</c:v>
                  </c:pt>
                  <c:pt idx="5">
                    <c:v>Pierre Cardin</c:v>
                  </c:pt>
                  <c:pt idx="6">
                    <c:v>Calvin Klein</c:v>
                  </c:pt>
                  <c:pt idx="7">
                    <c:v>Guess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1823</c:v>
                </c:pt>
                <c:pt idx="1">
                  <c:v>1299</c:v>
                </c:pt>
                <c:pt idx="2">
                  <c:v>1232</c:v>
                </c:pt>
                <c:pt idx="3">
                  <c:v>867</c:v>
                </c:pt>
                <c:pt idx="4">
                  <c:v>847</c:v>
                </c:pt>
                <c:pt idx="5">
                  <c:v>610</c:v>
                </c:pt>
                <c:pt idx="6">
                  <c:v>588</c:v>
                </c:pt>
                <c:pt idx="7">
                  <c:v>542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033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332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Oturum</c:v>
                </c:pt>
              </c:strCache>
            </c:strRef>
          </c:tx>
          <c:spPr>
            <a:solidFill>
              <a:srgbClr val="FF7B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33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Özdilek</c:v>
                  </c:pt>
                  <c:pt idx="1">
                    <c:v>Adidas</c:v>
                  </c:pt>
                  <c:pt idx="2">
                    <c:v>Skechers</c:v>
                  </c:pt>
                  <c:pt idx="3">
                    <c:v>SJCAM</c:v>
                  </c:pt>
                  <c:pt idx="4">
                    <c:v>Philips</c:v>
                  </c:pt>
                  <c:pt idx="5">
                    <c:v>New Balance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391</c:v>
                </c:pt>
                <c:pt idx="1">
                  <c:v>300</c:v>
                </c:pt>
                <c:pt idx="2">
                  <c:v>277</c:v>
                </c:pt>
                <c:pt idx="3">
                  <c:v>247</c:v>
                </c:pt>
                <c:pt idx="4">
                  <c:v>247</c:v>
                </c:pt>
                <c:pt idx="5">
                  <c:v>190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033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332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llms.txt sayfaları</c:v>
                </c:pt>
              </c:strCache>
            </c:strRef>
          </c:tx>
          <c:spPr>
            <a:solidFill>
              <a:srgbClr val="FF7B52"/>
            </a:solidFill>
            <a:ln w="31750" cap="flat">
              <a:solidFill>
                <a:srgbClr val="FF7B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7B52"/>
              </a:solidFill>
              <a:ln w="9525" cap="flat">
                <a:solidFill>
                  <a:srgbClr val="FF7B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Kas 25</c:v>
                  </c:pt>
                  <c:pt idx="1">
                    <c:v>Ara 25</c:v>
                  </c:pt>
                  <c:pt idx="2">
                    <c:v>Oca 26</c:v>
                  </c:pt>
                  <c:pt idx="3">
                    <c:v>Şub 26</c:v>
                  </c:pt>
                  <c:pt idx="4">
                    <c:v>Mar 26</c:v>
                  </c:pt>
                  <c:pt idx="5">
                    <c:v>Nis 26</c:v>
                  </c:pt>
                  <c:pt idx="6">
                    <c:v>May 26</c:v>
                  </c:pt>
                  <c:pt idx="7">
                    <c:v>Haz 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</c:v>
                </c:pt>
                <c:pt idx="1">
                  <c:v>11</c:v>
                </c:pt>
                <c:pt idx="2">
                  <c:v>13</c:v>
                </c:pt>
                <c:pt idx="3">
                  <c:v>19</c:v>
                </c:pt>
                <c:pt idx="4">
                  <c:v>7</c:v>
                </c:pt>
                <c:pt idx="5">
                  <c:v>6</c:v>
                </c:pt>
                <c:pt idx="6">
                  <c:v>5</c:v>
                </c:pt>
                <c:pt idx="7">
                  <c:v>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Diğer sayfalar</c:v>
                </c:pt>
              </c:strCache>
            </c:strRef>
          </c:tx>
          <c:spPr>
            <a:solidFill>
              <a:srgbClr val="1565C0"/>
            </a:solidFill>
            <a:ln w="3175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Kas 25</c:v>
                  </c:pt>
                  <c:pt idx="1">
                    <c:v>Ara 25</c:v>
                  </c:pt>
                  <c:pt idx="2">
                    <c:v>Oca 26</c:v>
                  </c:pt>
                  <c:pt idx="3">
                    <c:v>Şub 26</c:v>
                  </c:pt>
                  <c:pt idx="4">
                    <c:v>Mar 26</c:v>
                  </c:pt>
                  <c:pt idx="5">
                    <c:v>Nis 26</c:v>
                  </c:pt>
                  <c:pt idx="6">
                    <c:v>May 26</c:v>
                  </c:pt>
                  <c:pt idx="7">
                    <c:v>Haz 26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5251</c:v>
                </c:pt>
                <c:pt idx="1">
                  <c:v>3989</c:v>
                </c:pt>
                <c:pt idx="2">
                  <c:v>4690</c:v>
                </c:pt>
                <c:pt idx="3">
                  <c:v>3559</c:v>
                </c:pt>
                <c:pt idx="4">
                  <c:v>4755</c:v>
                </c:pt>
                <c:pt idx="5">
                  <c:v>4982</c:v>
                </c:pt>
                <c:pt idx="6">
                  <c:v>7570</c:v>
                </c:pt>
                <c:pt idx="7">
                  <c:v>3364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7B5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65C0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7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do/Desktop/Claude Projects/Özdilek/ozdilekteyim-trafik-analizi/sunum/assets/inbound-big-o-white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8412480" y="-128016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1031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ÖZDİLEKTEYİM × INBOUND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2514600"/>
            <a:ext cx="121889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Trafik Analizi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kaynaklı referral trafiği · Kasım 2025 – Haziran 2026</a:t>
            </a:r>
            <a:endParaRPr lang="en-US" sz="1800" dirty="0"/>
          </a:p>
        </p:txBody>
      </p:sp>
      <p:pic>
        <p:nvPicPr>
          <p:cNvPr id="6" name="Image 1" descr="/Users/Erdo/Desktop/Claude Projects/Özdilek/ozdilekteyim-trafik-analizi/sunum/assets/inbound-word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5943600"/>
            <a:ext cx="182880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19360" cy="6858000"/>
          </a:xfrm>
          <a:prstGeom prst="rect">
            <a:avLst/>
          </a:prstGeom>
          <a:solidFill>
            <a:srgbClr val="FF7B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AKIŞI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Haritası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577840" y="1280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77840" y="153619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Görünüm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577840" y="193852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Hacim, ciro, dönüşüm ve aylık seyir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2606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7840" y="286207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 Nereye Gidiyor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77840" y="32644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 tipi, en değerli sayfalar, marka, yükselenler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3931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418795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Fırsat &amp; llms.txt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459028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 fırsatı sayfaları ve llms.txt etkisi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5257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551383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Adımlar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77840" y="591616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Değerlendirilebilir aksiyon alanları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21031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0" b="1" dirty="0">
                <a:solidFill>
                  <a:srgbClr val="1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Görünüm</a:t>
            </a:r>
            <a:endParaRPr lang="en-US" sz="4800" dirty="0"/>
          </a:p>
        </p:txBody>
      </p:sp>
      <p:pic>
        <p:nvPicPr>
          <p:cNvPr id="4" name="Image 0" descr="/Users/Erdo/Desktop/Claude Projects/Özdilek/ozdilekteyim-trafik-analizi/sunum/assets/inbound-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6035040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Görünüm</a:t>
            </a:r>
            <a:pPr algn="l" indent="0" marL="0">
              <a:buNone/>
            </a:pPr>
            <a:r>
              <a:rPr lang="en-US" sz="110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Tek bakışta tablo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bakışta </a:t>
            </a:r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highlight>
                  <a:srgbClr val="FF7B5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tablo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Kasım 2025 – Haziran 2026 döneminde yapay zeka kaynaklı (ağırlıkla ChatGPT) referral trafiğinin özeti.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10332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23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38.237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AI Oturum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24912" y="210312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10332F"/>
          </a:solidFill>
          <a:ln/>
        </p:spPr>
      </p:sp>
      <p:sp>
        <p:nvSpPr>
          <p:cNvPr id="9" name="Text 7"/>
          <p:cNvSpPr/>
          <p:nvPr/>
        </p:nvSpPr>
        <p:spPr>
          <a:xfrm>
            <a:off x="2724912" y="2423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₺639K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816352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Ciro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92624" y="210312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FF7B52"/>
          </a:solidFill>
          <a:ln/>
        </p:spPr>
      </p:sp>
      <p:sp>
        <p:nvSpPr>
          <p:cNvPr id="12" name="Text 10"/>
          <p:cNvSpPr/>
          <p:nvPr/>
        </p:nvSpPr>
        <p:spPr>
          <a:xfrm>
            <a:off x="4992624" y="2423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084064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0336" y="210312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FF7B52"/>
          </a:solidFill>
          <a:ln/>
        </p:spPr>
      </p:sp>
      <p:sp>
        <p:nvSpPr>
          <p:cNvPr id="15" name="Text 13"/>
          <p:cNvSpPr/>
          <p:nvPr/>
        </p:nvSpPr>
        <p:spPr>
          <a:xfrm>
            <a:off x="7260336" y="2423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₺2.544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351776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(işlem başına)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28048" y="210312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10332F"/>
          </a:solidFill>
          <a:ln/>
        </p:spPr>
      </p:sp>
      <p:sp>
        <p:nvSpPr>
          <p:cNvPr id="18" name="Text 16"/>
          <p:cNvSpPr/>
          <p:nvPr/>
        </p:nvSpPr>
        <p:spPr>
          <a:xfrm>
            <a:off x="9528048" y="2423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+%0,66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619488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 (CR)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11247120" cy="914400"/>
          </a:xfrm>
          <a:prstGeom prst="rect">
            <a:avLst/>
          </a:prstGeom>
          <a:solidFill>
            <a:srgbClr val="FDEAE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</a:t>
            </a:r>
            <a:pPr algn="l" indent="0" marL="0">
              <a:buNone/>
            </a:pPr>
            <a:r>
              <a:rPr lang="en-US" sz="1400" b="1" dirty="0">
                <a:solidFill>
                  <a:srgbClr val="E85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Kasım 2025</a:t>
            </a:r>
            <a:pPr algn="l" indent="0" marL="0">
              <a:buNone/>
            </a:pPr>
            <a:r>
              <a:rPr lang="en-US" sz="1400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alışveriş kampanya dönemiyle (Efsane Cuma) güçlü bir başlangıç oluşturmuş; trafik sonraki aylarda yeniden Kasım seviyelerine yaklaşmış, </a:t>
            </a:r>
            <a:pPr algn="l" indent="0" marL="0">
              <a:buNone/>
            </a:pPr>
            <a:r>
              <a:rPr lang="en-US" sz="1400" b="1" dirty="0">
                <a:solidFill>
                  <a:srgbClr val="E85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Mayıs 2026</a:t>
            </a:r>
            <a:pPr algn="l" indent="0" marL="0">
              <a:buNone/>
            </a:pPr>
            <a:r>
              <a:rPr lang="en-US" sz="1400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'da bayram etkisiyle Kasım'ı da aşmıştır.</a:t>
            </a:r>
            <a:endParaRPr lang="en-US" sz="1400" dirty="0"/>
          </a:p>
        </p:txBody>
      </p:sp>
      <p:pic>
        <p:nvPicPr>
          <p:cNvPr id="21" name="Image 0" descr="/Users/Erdo/Desktop/Claude Projects/Özdilek/ozdilekteyim-trafik-analizi/sunum/assets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914400" y="6236208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7B52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6236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GA4 · AI referral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Görünüm</a:t>
            </a:r>
            <a:pPr algn="l" indent="0" marL="0">
              <a:buNone/>
            </a:pPr>
            <a:r>
              <a:rPr lang="en-US" sz="110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Aylık seyir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AI trafik </a:t>
            </a:r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highlight>
                  <a:srgbClr val="FF7B5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eğrisi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112471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120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</a:t>
            </a:r>
            <a:pPr indent="0" marL="0">
              <a:buNone/>
            </a:pPr>
            <a:r>
              <a:rPr lang="en-US" sz="1300" b="1" dirty="0">
                <a:solidFill>
                  <a:srgbClr val="E85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Kasım</a:t>
            </a:r>
            <a:pPr indent="0" marL="0">
              <a:buNone/>
            </a:pPr>
            <a:r>
              <a:rPr lang="en-US" sz="1300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Efsane Cuma ile dönemin en yüksek cirosunu (₺139K) oluşturmuş; </a:t>
            </a:r>
            <a:pPr indent="0" marL="0">
              <a:buNone/>
            </a:pPr>
            <a:r>
              <a:rPr lang="en-US" sz="1300" b="1" dirty="0">
                <a:solidFill>
                  <a:srgbClr val="E85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Mayıs</a:t>
            </a:r>
            <a:pPr indent="0" marL="0">
              <a:buNone/>
            </a:pPr>
            <a:r>
              <a:rPr lang="en-US" sz="1300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bayram dönemiyle Kasım'ı da aşmıştır.</a:t>
            </a:r>
            <a:endParaRPr lang="en-US" sz="1300" dirty="0"/>
          </a:p>
        </p:txBody>
      </p:sp>
      <p:pic>
        <p:nvPicPr>
          <p:cNvPr id="6" name="Image 0" descr="/Users/Erdo/Desktop/Claude Projects/Özdilek/ozdilekteyim-trafik-analizi/sunum/assets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14400" y="6236208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7B52"/>
          </a:solidFill>
          <a:ln/>
        </p:spPr>
      </p:sp>
      <p:sp>
        <p:nvSpPr>
          <p:cNvPr id="8" name="Text 4"/>
          <p:cNvSpPr/>
          <p:nvPr/>
        </p:nvSpPr>
        <p:spPr>
          <a:xfrm>
            <a:off x="914400" y="6236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GA4 · AI referral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21031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0" b="1" dirty="0">
                <a:solidFill>
                  <a:srgbClr val="1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 Nereye Gidiyor</a:t>
            </a:r>
            <a:endParaRPr lang="en-US" sz="4800" dirty="0"/>
          </a:p>
        </p:txBody>
      </p:sp>
      <p:pic>
        <p:nvPicPr>
          <p:cNvPr id="4" name="Image 0" descr="/Users/Erdo/Desktop/Claude Projects/Özdilek/ozdilekteyim-trafik-analizi/sunum/assets/inbound-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6035040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 Nereye Gidiyor</a:t>
            </a:r>
            <a:pPr algn="l" indent="0" marL="0">
              <a:buNone/>
            </a:pPr>
            <a:r>
              <a:rPr lang="en-US" sz="110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Sayfa tipi dağılımı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 tipine göre </a:t>
            </a:r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highlight>
                  <a:srgbClr val="FF7B5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dağılım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55448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737360"/>
          <a:ext cx="5577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82296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Sayfa Tipi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Oturum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29.328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%76,7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₺460.842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%18,8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₺10.642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₺109.758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Sepet/Checkout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%0,6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₺49.730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Anasayfa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%0,5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126480" y="457200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trafiğinin %76,7'si ürün sayfalarına yönelirken, kategori sayfaları az oturumla yüksek ciro getirmektedir.</a:t>
            </a:r>
            <a:endParaRPr lang="en-US" sz="1200" dirty="0"/>
          </a:p>
        </p:txBody>
      </p:sp>
      <p:pic>
        <p:nvPicPr>
          <p:cNvPr id="7" name="Image 0" descr="/Users/Erdo/Desktop/Claude Projects/Özdilek/ozdilekteyim-trafik-analizi/sunum/assets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6236208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7B52"/>
          </a:solidFill>
          <a:ln/>
        </p:spPr>
      </p:sp>
      <p:sp>
        <p:nvSpPr>
          <p:cNvPr id="9" name="Text 4"/>
          <p:cNvSpPr/>
          <p:nvPr/>
        </p:nvSpPr>
        <p:spPr>
          <a:xfrm>
            <a:off x="914400" y="6236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GA4 · AI referral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 Nereye Gidiyor</a:t>
            </a:r>
            <a:pPr algn="l" indent="0" marL="0">
              <a:buNone/>
            </a:pPr>
            <a:r>
              <a:rPr lang="en-US" sz="110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En değerli sayfalar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değerli </a:t>
            </a:r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highlight>
                  <a:srgbClr val="FF7B5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sayfalar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BFA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ÇOK OTURUM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06040"/>
          <a:ext cx="3108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philips su arıtma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/magaza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sjcam kamera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anasayfa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özdilek point seti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97680" y="155448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BFA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26280" y="1783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ÇOK CİRO · ÜRÜN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26280" y="2057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Ciro</a:t>
            </a:r>
            <a:endParaRPr lang="en-US" sz="18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2606040"/>
          <a:ext cx="3108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fissler vitavit prem.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₺20,0K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fissler vitaquick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₺16,0K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fissler vitavit 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₺14,0K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özdilek pike takımı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₺11,9K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stanley termos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₺5,1K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8138160" y="155448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BFA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366760" y="1783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ÇOK İŞLEM · ÜRÜN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366760" y="2057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8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0" y="2606040"/>
          <a:ext cx="3108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stanley termos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sjcam kamera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fissler serisi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özdilek pike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ürünleri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5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</a:t>
            </a:r>
            <a:pPr indent="0" marL="0">
              <a:buNone/>
            </a:pPr>
            <a:r>
              <a:rPr lang="en-US" sz="1250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Cironun önemli bölümü sepet ve onay adımlarında toplanmakta; ürün düzeyinde Fissler düdüklü tencere serisi ve Stanley termos öne çıkmaktadır.</a:t>
            </a:r>
            <a:endParaRPr lang="en-US" sz="1250" dirty="0"/>
          </a:p>
        </p:txBody>
      </p:sp>
      <p:pic>
        <p:nvPicPr>
          <p:cNvPr id="17" name="Image 0" descr="/Users/Erdo/Desktop/Claude Projects/Özdilek/ozdilekteyim-trafik-analizi/sunum/assets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914400" y="6236208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7B52"/>
          </a:solidFill>
          <a:ln/>
        </p:spPr>
      </p:sp>
      <p:sp>
        <p:nvSpPr>
          <p:cNvPr id="19" name="Text 13"/>
          <p:cNvSpPr/>
          <p:nvPr/>
        </p:nvSpPr>
        <p:spPr>
          <a:xfrm>
            <a:off x="914400" y="6236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GA4 · AI referral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 Nereye Gidiyor</a:t>
            </a:r>
            <a:pPr algn="l" indent="0" marL="0">
              <a:buNone/>
            </a:pPr>
            <a:r>
              <a:rPr lang="en-US" sz="110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Marka merceği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</a:t>
            </a:r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highlight>
                  <a:srgbClr val="FF7B5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merceği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5836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737360"/>
          <a:ext cx="4389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109728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Oturum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Özdilek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₺41,7K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₺13,9K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₺34,5K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Skechers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₺39,8K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₺12,7K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Pierre Cardin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₺22,5K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Users/Erdo/Desktop/Claude Projects/Özdilek/ozdilekteyim-trafik-analizi/sunum/assets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914400" y="6236208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7B52"/>
          </a:solidFill>
          <a:ln/>
        </p:spPr>
      </p:sp>
      <p:sp>
        <p:nvSpPr>
          <p:cNvPr id="8" name="Text 3"/>
          <p:cNvSpPr/>
          <p:nvPr/>
        </p:nvSpPr>
        <p:spPr>
          <a:xfrm>
            <a:off x="914400" y="6236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GA4 · AI referral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 Nereye Gidiyor</a:t>
            </a:r>
            <a:pPr algn="l" indent="0" marL="0">
              <a:buNone/>
            </a:pPr>
            <a:r>
              <a:rPr lang="en-US" sz="110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Zaman içinde yükselenler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içinde </a:t>
            </a:r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highlight>
                  <a:srgbClr val="FF7B5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yükselenler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Dönemin ilk yarısı (Kas–Şub) ile ikinci yarısı (Mar–Haz) arasındaki AI oturum artışı (Δ).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Yükselen markalar · Δ oturum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286000"/>
          <a:ext cx="5943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766560" y="1920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Yükselen sayfalar / ürünler · Δ oturum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331720"/>
          <a:ext cx="493776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188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philips su arıtma cihazı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sjcam aksiyon kamera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anasayfa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özdilek point happy aile seti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acton pocket camera gimbal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766560" y="45720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Özdilek, Adidas ve Skechers ikinci yarıda en belirgin artışı; elektronikte Philips ve SJCAM öne çıkmaktadır.</a:t>
            </a:r>
            <a:endParaRPr lang="en-US" sz="1200" dirty="0"/>
          </a:p>
        </p:txBody>
      </p:sp>
      <p:pic>
        <p:nvPicPr>
          <p:cNvPr id="10" name="Image 0" descr="/Users/Erdo/Desktop/Claude Projects/Özdilek/ozdilekteyim-trafik-analizi/sunum/assets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14400" y="6236208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7B52"/>
          </a:solidFill>
          <a:ln/>
        </p:spPr>
      </p:sp>
      <p:sp>
        <p:nvSpPr>
          <p:cNvPr id="12" name="Text 7"/>
          <p:cNvSpPr/>
          <p:nvPr/>
        </p:nvSpPr>
        <p:spPr>
          <a:xfrm>
            <a:off x="914400" y="6236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GA4 · AI referral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21031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0" b="1" dirty="0">
                <a:solidFill>
                  <a:srgbClr val="1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Fırsat &amp; llms.txt</a:t>
            </a:r>
            <a:endParaRPr lang="en-US" sz="4800" dirty="0"/>
          </a:p>
        </p:txBody>
      </p:sp>
      <p:pic>
        <p:nvPicPr>
          <p:cNvPr id="4" name="Image 0" descr="/Users/Erdo/Desktop/Claude Projects/Özdilek/ozdilekteyim-trafik-analizi/sunum/assets/inbound-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6035040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Fırsat &amp; llms.txt</a:t>
            </a:r>
            <a:pPr algn="l" indent="0" marL="0">
              <a:buNone/>
            </a:pPr>
            <a:r>
              <a:rPr lang="en-US" sz="110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Dönüşüm fırsatı sayfaları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oturumu yüksek, </a:t>
            </a:r>
            <a:pPr algn="l" indent="0" marL="0">
              <a:buNone/>
            </a:pPr>
            <a:r>
              <a:rPr lang="en-US" sz="2800" b="1" dirty="0">
                <a:solidFill>
                  <a:srgbClr val="10332F"/>
                </a:solidFill>
                <a:highlight>
                  <a:srgbClr val="FF7B5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 fırsatı</a:t>
            </a:r>
            <a:pPr algn="l" indent="0" marL="0">
              <a:buNone/>
            </a:pPr>
            <a:r>
              <a:rPr lang="en-US" sz="28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taşıyan sayfalar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1005840"/>
                <a:gridCol w="1005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Sayfa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Oturum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philips su arıtma cihazı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anasayfa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Anasayfa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özdilek point happy aile seti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philips hava temizleme cihazı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acton pocket camera gimbal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acton selfie aksiyon kamerası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1737360"/>
            <a:ext cx="4297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5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Philips</a:t>
            </a:r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ürün sayfaları yüksek ilgi görmekte fakat işleme dönüşmemektedir; fiyat, stok ve içerik bütünlüğü değerlendirilebilir.
</a:t>
            </a:r>
            <a:pPr indent="0" marL="0">
              <a:buNone/>
            </a:pPr>
            <a:r>
              <a:rPr lang="en-US" sz="1300" b="1" dirty="0">
                <a:solidFill>
                  <a:srgbClr val="E85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Acton</a:t>
            </a:r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kamera ürünleri tekrarlı şekilde listede yer almaktadır.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Anasayfa girişlerinin ilgili kategori/ürünlere yönlendirme akışı gözden geçirilebilir.</a:t>
            </a:r>
            <a:endParaRPr lang="en-US" sz="1300" dirty="0"/>
          </a:p>
        </p:txBody>
      </p:sp>
      <p:pic>
        <p:nvPicPr>
          <p:cNvPr id="6" name="Image 0" descr="/Users/Erdo/Desktop/Claude Projects/Özdilek/ozdilekteyim-trafik-analizi/sunum/assets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14400" y="6236208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7B52"/>
          </a:solidFill>
          <a:ln/>
        </p:spPr>
      </p:sp>
      <p:sp>
        <p:nvSpPr>
          <p:cNvPr id="8" name="Text 4"/>
          <p:cNvSpPr/>
          <p:nvPr/>
        </p:nvSpPr>
        <p:spPr>
          <a:xfrm>
            <a:off x="914400" y="6236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GA4 · AI referral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Fırsat &amp; llms.txt</a:t>
            </a:r>
            <a:pPr algn="l" indent="0" marL="0">
              <a:buNone/>
            </a:pPr>
            <a:r>
              <a:rPr lang="en-US" sz="110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llms.txt etkisi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</a:t>
            </a:r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highlight>
                  <a:srgbClr val="FF7B5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etkisi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Şubat 2026'da eklendi; "Önemli Sayfalar" altında 83 sayfa tanımlı, 62'si veride görünüyor.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7B5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→ 40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doğrudan oturum (Şubat öncesi → sonrası)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73552" y="182880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10332F"/>
          </a:solidFill>
          <a:ln/>
        </p:spPr>
      </p:sp>
      <p:sp>
        <p:nvSpPr>
          <p:cNvPr id="9" name="Text 7"/>
          <p:cNvSpPr/>
          <p:nvPr/>
        </p:nvSpPr>
        <p:spPr>
          <a:xfrm>
            <a:off x="3273552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12.359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260604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İlişkili ürün keşfi · oturum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9904" y="182880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10332F"/>
          </a:solidFill>
          <a:ln/>
        </p:spPr>
      </p:sp>
      <p:sp>
        <p:nvSpPr>
          <p:cNvPr id="12" name="Text 10"/>
          <p:cNvSpPr/>
          <p:nvPr/>
        </p:nvSpPr>
        <p:spPr>
          <a:xfrm>
            <a:off x="6089904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13.930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99632" y="260604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· Şubat öncesi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06256" y="182880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10332F"/>
          </a:solidFill>
          <a:ln/>
        </p:spPr>
      </p:sp>
      <p:sp>
        <p:nvSpPr>
          <p:cNvPr id="15" name="Text 13"/>
          <p:cNvSpPr/>
          <p:nvPr/>
        </p:nvSpPr>
        <p:spPr>
          <a:xfrm>
            <a:off x="8906256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24.230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015984" y="260604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· Şubat sonrası</a:t>
            </a:r>
            <a:endParaRPr lang="en-US" sz="9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3474720"/>
          <a:ext cx="112471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18" name="Image 0" descr="/Users/Erdo/Desktop/Claude Projects/Özdilek/ozdilekteyim-trafik-analizi/sunum/assets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914400" y="6236208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7B52"/>
          </a:solidFill>
          <a:ln/>
        </p:spPr>
      </p:sp>
      <p:sp>
        <p:nvSpPr>
          <p:cNvPr id="20" name="Text 16"/>
          <p:cNvSpPr/>
          <p:nvPr/>
        </p:nvSpPr>
        <p:spPr>
          <a:xfrm>
            <a:off x="914400" y="6236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GA4 · llms.txt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Fırsat &amp; llms.txt</a:t>
            </a:r>
            <a:pPr algn="l" indent="0" marL="0">
              <a:buNone/>
            </a:pPr>
            <a:r>
              <a:rPr lang="en-US" sz="110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Ürün keşfi · doğrulanmış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sayfaları nasıl </a:t>
            </a:r>
            <a:pPr algn="l" indent="0" marL="0">
              <a:buNone/>
            </a:pPr>
            <a:r>
              <a:rPr lang="en-US" sz="2600" b="1" dirty="0">
                <a:solidFill>
                  <a:srgbClr val="10332F"/>
                </a:solidFill>
                <a:highlight>
                  <a:srgbClr val="FF7B5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ürün keşfine</a:t>
            </a:r>
            <a:pPr algn="l" indent="0" marL="0">
              <a:buNone/>
            </a:pPr>
            <a:r>
              <a:rPr lang="en-US" sz="26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dönüşüyor?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llms.txt'deki her sayfa bir markaya/kategoriye karşılık gelir. İlişkili ürünler aynı markaya/kategoriye bağlı ürün sayfalarıdır; bağlılık ürün sayfasındaki kategori bilgisinden teyit edilmiştir. Toplamda her ürün yalnızca bir kez sayılır.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6400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463040"/>
                <a:gridCol w="1280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Marka (llms.txt)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sayfa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trafikli ürün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İlişkili oturum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Skechers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Pierre Cardin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Calvin Klein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2194560"/>
            <a:ext cx="4480560" cy="2743200"/>
          </a:xfrm>
          <a:prstGeom prst="roundRect">
            <a:avLst>
              <a:gd name="adj" fmla="val 3333"/>
            </a:avLst>
          </a:prstGeom>
          <a:solidFill>
            <a:srgbClr val="E8F5E9"/>
          </a:solidFill>
          <a:ln/>
        </p:spPr>
      </p:sp>
      <p:sp>
        <p:nvSpPr>
          <p:cNvPr id="7" name="Text 4"/>
          <p:cNvSpPr/>
          <p:nvPr/>
        </p:nvSpPr>
        <p:spPr>
          <a:xfrm>
            <a:off x="7406640" y="2331720"/>
            <a:ext cx="4114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· bağlı olduğu marka
</a:t>
            </a:r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sayfası: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Erkek Spor Ayakkabı
</a:t>
            </a:r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kategori: Ayakkabı › Spor · marka: Adidas
</a:t>
            </a:r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İlişkili ürün: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Duramo Speed
</a:t>
            </a:r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kategori: Spor Ayakkabıları · marka: Adidas
</a:t>
            </a:r>
            <a:pPr indent="0" marL="0">
              <a:buNone/>
            </a:pPr>
            <a:r>
              <a:rPr lang="en-US" sz="12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markaya bağlı 789 Adidas ürünü, toplam 1.224 oturum AI trafiği almıştır.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</a:t>
            </a:r>
            <a:pPr indent="0" marL="0">
              <a:buNone/>
            </a:pPr>
            <a:r>
              <a:rPr lang="en-US" sz="1250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</a:t>
            </a:r>
            <a:pPr indent="0" marL="0">
              <a:buNone/>
            </a:pPr>
            <a:r>
              <a:rPr lang="en-US" sz="1250" b="1" dirty="0">
                <a:solidFill>
                  <a:srgbClr val="E85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12.359 oturum</a:t>
            </a:r>
            <a:pPr indent="0" marL="0">
              <a:buNone/>
            </a:pPr>
            <a:r>
              <a:rPr lang="en-US" sz="1250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(her ürün bir kez sayılarak) llms.txt'deki marka ve kategorilerin ürün sayfalarına ulaşmıştır.</a:t>
            </a:r>
            <a:endParaRPr lang="en-US" sz="1250" dirty="0"/>
          </a:p>
        </p:txBody>
      </p:sp>
      <p:pic>
        <p:nvPicPr>
          <p:cNvPr id="9" name="Image 0" descr="/Users/Erdo/Desktop/Claude Projects/Özdilek/ozdilekteyim-trafik-analizi/sunum/assets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4400" y="6236208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7B52"/>
          </a:solidFill>
          <a:ln/>
        </p:spPr>
      </p:sp>
      <p:sp>
        <p:nvSpPr>
          <p:cNvPr id="11" name="Text 7"/>
          <p:cNvSpPr/>
          <p:nvPr/>
        </p:nvSpPr>
        <p:spPr>
          <a:xfrm>
            <a:off x="914400" y="6236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GA4 · llms.txt · sayfa kategori bilgisi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Adımlar</a:t>
            </a:r>
            <a:pPr algn="l" indent="0" marL="0">
              <a:buNone/>
            </a:pPr>
            <a:r>
              <a:rPr lang="en-US" sz="1100" dirty="0">
                <a:solidFill>
                  <a:srgbClr val="FF7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Değerlendirilebilir alanlar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</a:t>
            </a:r>
            <a:pPr algn="l" indent="0" marL="0">
              <a:buNone/>
            </a:pPr>
            <a:r>
              <a:rPr lang="en-US" sz="3000" b="1" dirty="0">
                <a:solidFill>
                  <a:srgbClr val="10332F"/>
                </a:solidFill>
                <a:highlight>
                  <a:srgbClr val="FF7B5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adımlar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BFA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 akışı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AI oturumu alan ürün sayfalarında fiyat, stok ve içerik bütünlüğünün değerlendirilmesi.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BFA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783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480560" y="2423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kapsamı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880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çıkan ürün sayfalarının llms.txt kapsamına eklenmesi ve etkisinin takibi.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BFA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783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21040" y="2423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llms-full.txt &amp; dinamik üretim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880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Google'ın optimizasyon dokümanlarına llms.txt'yi eklemesiyle bu yapı değer kazanmaktadır; kapsamlı bir llms-full.txt'nin dinamik üretimi değerlendirilebilir.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BFA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14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2286000" y="4206240"/>
            <a:ext cx="1554480" cy="274320"/>
          </a:xfrm>
          <a:prstGeom prst="rect">
            <a:avLst>
              <a:gd name="adj" fmla="val 33333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Üretimi - Kategori &amp; Ürün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ürün ve öne çıkan kategorilere SEO + GEO uyumlu içerik. Kategori içerikleri üretiliyor; ürün içerikleri planlandı.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3977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BFA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4114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4480560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 takip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480560" y="52120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AI trafik raporunun düzenli güncellenmesi ve kanal performansının izlenmesi.</a:t>
            </a:r>
            <a:endParaRPr lang="en-US" sz="1100" dirty="0"/>
          </a:p>
        </p:txBody>
      </p:sp>
      <p:pic>
        <p:nvPicPr>
          <p:cNvPr id="25" name="Image 0" descr="/Users/Erdo/Desktop/Claude Projects/Özdilek/ozdilekteyim-trafik-analizi/sunum/assets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7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do/Desktop/Claude Projects/Özdilek/ozdilekteyim-trafik-analizi/sunum/assets/inbound-big-o-white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-1371600" y="-91440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468880"/>
            <a:ext cx="12188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0" y="3840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welcome@inbound.com.tr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4251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Özdilekteyim × Inbound · AI Trafik Analizi · © 2026 Inbound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Inbound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Özdilekteyim · AI Trafik Analizi</dc:title>
  <dc:subject>PptxGenJS Presentation</dc:subject>
  <dc:creator>Inbound</dc:creator>
  <cp:lastModifiedBy>Inbound</cp:lastModifiedBy>
  <cp:revision>1</cp:revision>
  <dcterms:created xsi:type="dcterms:W3CDTF">2026-06-17T11:41:47Z</dcterms:created>
  <dcterms:modified xsi:type="dcterms:W3CDTF">2026-06-17T11:41:47Z</dcterms:modified>
</cp:coreProperties>
</file>